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jhFOd+JcSvqgFNYozk5dxAWd0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D7F81D-7198-4B6B-83BC-A4E2CF6B9070}">
  <a:tblStyle styleId="{33D7F81D-7198-4B6B-83BC-A4E2CF6B90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 name="Google Shape;2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1" name="Google Shape;4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6" name="Google Shape;5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0" name="Google Shape;70;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4" name="Google Shape;8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8" name="Google Shape;9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2" name="Google Shape;11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27" name="Google Shape;12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42" name="Google Shape;14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SIS COVER">
  <p:cSld name="GENESIS COVER">
    <p:bg>
      <p:bgPr>
        <a:solidFill>
          <a:schemeClr val="dk2"/>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SIS CONTENT">
  <p:cSld name="GENESIS CONTENT">
    <p:bg>
      <p:bgPr>
        <a:solidFill>
          <a:schemeClr val="lt2"/>
        </a:solidFill>
      </p:bgPr>
    </p:bg>
    <p:spTree>
      <p:nvGrpSpPr>
        <p:cNvPr id="8" name="Shape 8"/>
        <p:cNvGrpSpPr/>
        <p:nvPr/>
      </p:nvGrpSpPr>
      <p:grpSpPr>
        <a:xfrm>
          <a:off x="0" y="0"/>
          <a:ext cx="0" cy="0"/>
          <a:chOff x="0" y="0"/>
          <a:chExt cx="0" cy="0"/>
        </a:xfrm>
      </p:grpSpPr>
      <p:sp>
        <p:nvSpPr>
          <p:cNvPr id="9" name="Google Shape;9;p12"/>
          <p:cNvSpPr/>
          <p:nvPr/>
        </p:nvSpPr>
        <p:spPr>
          <a:xfrm>
            <a:off x="10911535" y="320040"/>
            <a:ext cx="82296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descr="Genesis logo" id="10" name="Google Shape;10;p12"/>
          <p:cNvPicPr preferRelativeResize="0"/>
          <p:nvPr/>
        </p:nvPicPr>
        <p:blipFill rotWithShape="1">
          <a:blip r:embed="rId2">
            <a:alphaModFix/>
          </a:blip>
          <a:srcRect b="0" l="0" r="0" t="0"/>
          <a:stretch/>
        </p:blipFill>
        <p:spPr>
          <a:xfrm>
            <a:off x="11055950" y="384048"/>
            <a:ext cx="534131" cy="694944"/>
          </a:xfrm>
          <a:prstGeom prst="rect">
            <a:avLst/>
          </a:prstGeom>
          <a:noFill/>
          <a:ln>
            <a:noFill/>
          </a:ln>
        </p:spPr>
      </p:pic>
      <p:sp>
        <p:nvSpPr>
          <p:cNvPr id="11" name="Google Shape;11;p12"/>
          <p:cNvSpPr/>
          <p:nvPr/>
        </p:nvSpPr>
        <p:spPr>
          <a:xfrm>
            <a:off x="0" y="6355080"/>
            <a:ext cx="12191695" cy="50292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2"/>
          <p:cNvSpPr/>
          <p:nvPr/>
        </p:nvSpPr>
        <p:spPr>
          <a:xfrm>
            <a:off x="2286000" y="6355080"/>
            <a:ext cx="7619695"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050"/>
              <a:buFont typeface="Calibri"/>
              <a:buNone/>
            </a:pPr>
            <a:r>
              <a:rPr lang="en-US" spc="100" sz="1050">
                <a:solidFill>
                  <a:schemeClr val="accent6"/>
                </a:solidFill>
                <a:latin typeface="Calibri"/>
                <a:ea typeface="Calibri"/>
                <a:cs typeface="Calibri"/>
                <a:sym typeface="Calibri"/>
              </a:rPr>
              <a:t>Genesis Ideathon – Pre-Ideathon Template</a:t>
            </a:r>
            <a:endParaRPr sz="1050">
              <a:solidFill>
                <a:schemeClr val="dk1"/>
              </a:solidFill>
              <a:latin typeface="Calibri"/>
              <a:ea typeface="Calibri"/>
              <a:cs typeface="Calibri"/>
              <a:sym typeface="Calibri"/>
            </a:endParaRPr>
          </a:p>
        </p:txBody>
      </p:sp>
      <p:sp>
        <p:nvSpPr>
          <p:cNvPr id="13" name="Google Shape;13;p12"/>
          <p:cNvSpPr/>
          <p:nvPr/>
        </p:nvSpPr>
        <p:spPr>
          <a:xfrm>
            <a:off x="11259007" y="6409944"/>
            <a:ext cx="457200" cy="395935"/>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4" name="Google Shape;14;p12"/>
          <p:cNvSpPr/>
          <p:nvPr/>
        </p:nvSpPr>
        <p:spPr>
          <a:xfrm rot="5400000">
            <a:off x="10610311" y="4686300"/>
            <a:ext cx="1425408" cy="1234440"/>
          </a:xfrm>
          <a:prstGeom prst="hexagon">
            <a:avLst>
              <a:gd fmla="val 25000" name="adj"/>
              <a:gd fmla="val 115470" name="vf"/>
            </a:avLst>
          </a:prstGeom>
          <a:noFill/>
          <a:ln cap="flat" cmpd="sng" w="15875">
            <a:solidFill>
              <a:schemeClr val="accent4">
                <a:alpha val="27843"/>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5" name="Google Shape;15;p12"/>
          <p:cNvSpPr/>
          <p:nvPr/>
        </p:nvSpPr>
        <p:spPr>
          <a:xfrm rot="5400000">
            <a:off x="9750599" y="5349240"/>
            <a:ext cx="950272" cy="822960"/>
          </a:xfrm>
          <a:prstGeom prst="hexagon">
            <a:avLst>
              <a:gd fmla="val 25000" name="adj"/>
              <a:gd fmla="val 115470" name="vf"/>
            </a:avLst>
          </a:prstGeom>
          <a:noFill/>
          <a:ln cap="flat" cmpd="sng" w="15875">
            <a:solidFill>
              <a:schemeClr val="accent4">
                <a:alpha val="2000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6" name="Google Shape;16;p12"/>
          <p:cNvSpPr/>
          <p:nvPr/>
        </p:nvSpPr>
        <p:spPr>
          <a:xfrm rot="5400000">
            <a:off x="11579399" y="3840480"/>
            <a:ext cx="950272" cy="822960"/>
          </a:xfrm>
          <a:prstGeom prst="hexagon">
            <a:avLst>
              <a:gd fmla="val 25000" name="adj"/>
              <a:gd fmla="val 115470" name="vf"/>
            </a:avLst>
          </a:prstGeom>
          <a:noFill/>
          <a:ln cap="flat" cmpd="sng" w="15875">
            <a:solidFill>
              <a:schemeClr val="accent4">
                <a:alpha val="18039"/>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7" name="Google Shape;17;p12"/>
          <p:cNvSpPr txBox="1"/>
          <p:nvPr>
            <p:ph type="title"/>
          </p:nvPr>
        </p:nvSpPr>
        <p:spPr>
          <a:xfrm>
            <a:off x="3246120" y="320040"/>
            <a:ext cx="7498080" cy="82296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2"/>
              </a:buClr>
              <a:buSzPts val="2400"/>
              <a:buFont typeface="Cambria"/>
              <a:buNone/>
              <a:defRPr b="1" i="0" spc="100" sz="2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12"/>
          <p:cNvSpPr txBox="1"/>
          <p:nvPr>
            <p:ph idx="12" type="sldNum"/>
          </p:nvPr>
        </p:nvSpPr>
        <p:spPr>
          <a:xfrm>
            <a:off x="11259007" y="6409944"/>
            <a:ext cx="457200" cy="395935"/>
          </a:xfrm>
          <a:prstGeom prst="rect">
            <a:avLst/>
          </a:prstGeom>
          <a:noFill/>
          <a:ln>
            <a:noFill/>
          </a:ln>
        </p:spPr>
        <p:txBody>
          <a:bodyPr anchorCtr="0" anchor="ctr" bIns="0" lIns="0" spcFirstLastPara="1" rIns="0" wrap="square" tIns="0">
            <a:noAutofit/>
          </a:bodyPr>
          <a:lstStyle>
            <a:lvl1pPr indent="0" lvl="0" marL="0" marR="0" algn="ctr">
              <a:spcBef>
                <a:spcPts val="0"/>
              </a:spcBef>
              <a:buNone/>
              <a:defRPr b="1" sz="1100">
                <a:solidFill>
                  <a:schemeClr val="dk2"/>
                </a:solidFill>
                <a:latin typeface="Calibri"/>
                <a:ea typeface="Calibri"/>
                <a:cs typeface="Calibri"/>
                <a:sym typeface="Calibri"/>
              </a:defRPr>
            </a:lvl1pPr>
            <a:lvl2pPr indent="0" lvl="1" marL="0" marR="0" algn="ctr">
              <a:spcBef>
                <a:spcPts val="0"/>
              </a:spcBef>
              <a:buNone/>
              <a:defRPr b="1" sz="1100">
                <a:solidFill>
                  <a:schemeClr val="dk2"/>
                </a:solidFill>
                <a:latin typeface="Calibri"/>
                <a:ea typeface="Calibri"/>
                <a:cs typeface="Calibri"/>
                <a:sym typeface="Calibri"/>
              </a:defRPr>
            </a:lvl2pPr>
            <a:lvl3pPr indent="0" lvl="2" marL="0" marR="0" algn="ctr">
              <a:spcBef>
                <a:spcPts val="0"/>
              </a:spcBef>
              <a:buNone/>
              <a:defRPr b="1" sz="1100">
                <a:solidFill>
                  <a:schemeClr val="dk2"/>
                </a:solidFill>
                <a:latin typeface="Calibri"/>
                <a:ea typeface="Calibri"/>
                <a:cs typeface="Calibri"/>
                <a:sym typeface="Calibri"/>
              </a:defRPr>
            </a:lvl3pPr>
            <a:lvl4pPr indent="0" lvl="3" marL="0" marR="0" algn="ctr">
              <a:spcBef>
                <a:spcPts val="0"/>
              </a:spcBef>
              <a:buNone/>
              <a:defRPr b="1" sz="1100">
                <a:solidFill>
                  <a:schemeClr val="dk2"/>
                </a:solidFill>
                <a:latin typeface="Calibri"/>
                <a:ea typeface="Calibri"/>
                <a:cs typeface="Calibri"/>
                <a:sym typeface="Calibri"/>
              </a:defRPr>
            </a:lvl4pPr>
            <a:lvl5pPr indent="0" lvl="4" marL="0" marR="0" algn="ctr">
              <a:spcBef>
                <a:spcPts val="0"/>
              </a:spcBef>
              <a:buNone/>
              <a:defRPr b="1" sz="1100">
                <a:solidFill>
                  <a:schemeClr val="dk2"/>
                </a:solidFill>
                <a:latin typeface="Calibri"/>
                <a:ea typeface="Calibri"/>
                <a:cs typeface="Calibri"/>
                <a:sym typeface="Calibri"/>
              </a:defRPr>
            </a:lvl5pPr>
            <a:lvl6pPr indent="0" lvl="5" marL="0" marR="0" algn="ctr">
              <a:spcBef>
                <a:spcPts val="0"/>
              </a:spcBef>
              <a:buNone/>
              <a:defRPr b="1" sz="1100">
                <a:solidFill>
                  <a:schemeClr val="dk2"/>
                </a:solidFill>
                <a:latin typeface="Calibri"/>
                <a:ea typeface="Calibri"/>
                <a:cs typeface="Calibri"/>
                <a:sym typeface="Calibri"/>
              </a:defRPr>
            </a:lvl6pPr>
            <a:lvl7pPr indent="0" lvl="6" marL="0" marR="0" algn="ctr">
              <a:spcBef>
                <a:spcPts val="0"/>
              </a:spcBef>
              <a:buNone/>
              <a:defRPr b="1" sz="1100">
                <a:solidFill>
                  <a:schemeClr val="dk2"/>
                </a:solidFill>
                <a:latin typeface="Calibri"/>
                <a:ea typeface="Calibri"/>
                <a:cs typeface="Calibri"/>
                <a:sym typeface="Calibri"/>
              </a:defRPr>
            </a:lvl7pPr>
            <a:lvl8pPr indent="0" lvl="7" marL="0" marR="0" algn="ctr">
              <a:spcBef>
                <a:spcPts val="0"/>
              </a:spcBef>
              <a:buNone/>
              <a:defRPr b="1" sz="1100">
                <a:solidFill>
                  <a:schemeClr val="dk2"/>
                </a:solidFill>
                <a:latin typeface="Calibri"/>
                <a:ea typeface="Calibri"/>
                <a:cs typeface="Calibri"/>
                <a:sym typeface="Calibri"/>
              </a:defRPr>
            </a:lvl8pPr>
            <a:lvl9pPr indent="0" lvl="8" marL="0" marR="0" algn="ctr">
              <a:spcBef>
                <a:spcPts val="0"/>
              </a:spcBef>
              <a:buNone/>
              <a:defRPr b="1" sz="1100">
                <a:solidFill>
                  <a:schemeClr val="dk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idx="12" type="sldNum"/>
          </p:nvPr>
        </p:nvSpPr>
        <p:spPr>
          <a:xfrm>
            <a:off x="11259007" y="6409944"/>
            <a:ext cx="457200" cy="395935"/>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b="1" i="0" sz="1100" u="none" cap="none" strike="noStrike">
                <a:solidFill>
                  <a:schemeClr val="dk2"/>
                </a:solidFill>
                <a:latin typeface="Calibri"/>
                <a:ea typeface="Calibri"/>
                <a:cs typeface="Calibri"/>
                <a:sym typeface="Calibri"/>
              </a:defRPr>
            </a:lvl1pPr>
            <a:lvl2pPr indent="0" lvl="1" marL="0" marR="0" rtl="0" algn="ctr">
              <a:spcBef>
                <a:spcPts val="0"/>
              </a:spcBef>
              <a:buNone/>
              <a:defRPr b="1" i="0" sz="1100" u="none" cap="none" strike="noStrike">
                <a:solidFill>
                  <a:schemeClr val="dk2"/>
                </a:solidFill>
                <a:latin typeface="Calibri"/>
                <a:ea typeface="Calibri"/>
                <a:cs typeface="Calibri"/>
                <a:sym typeface="Calibri"/>
              </a:defRPr>
            </a:lvl2pPr>
            <a:lvl3pPr indent="0" lvl="2" marL="0" marR="0" rtl="0" algn="ctr">
              <a:spcBef>
                <a:spcPts val="0"/>
              </a:spcBef>
              <a:buNone/>
              <a:defRPr b="1" i="0" sz="1100" u="none" cap="none" strike="noStrike">
                <a:solidFill>
                  <a:schemeClr val="dk2"/>
                </a:solidFill>
                <a:latin typeface="Calibri"/>
                <a:ea typeface="Calibri"/>
                <a:cs typeface="Calibri"/>
                <a:sym typeface="Calibri"/>
              </a:defRPr>
            </a:lvl3pPr>
            <a:lvl4pPr indent="0" lvl="3" marL="0" marR="0" rtl="0" algn="ctr">
              <a:spcBef>
                <a:spcPts val="0"/>
              </a:spcBef>
              <a:buNone/>
              <a:defRPr b="1" i="0" sz="1100" u="none" cap="none" strike="noStrike">
                <a:solidFill>
                  <a:schemeClr val="dk2"/>
                </a:solidFill>
                <a:latin typeface="Calibri"/>
                <a:ea typeface="Calibri"/>
                <a:cs typeface="Calibri"/>
                <a:sym typeface="Calibri"/>
              </a:defRPr>
            </a:lvl4pPr>
            <a:lvl5pPr indent="0" lvl="4" marL="0" marR="0" rtl="0" algn="ctr">
              <a:spcBef>
                <a:spcPts val="0"/>
              </a:spcBef>
              <a:buNone/>
              <a:defRPr b="1" i="0" sz="1100" u="none" cap="none" strike="noStrike">
                <a:solidFill>
                  <a:schemeClr val="dk2"/>
                </a:solidFill>
                <a:latin typeface="Calibri"/>
                <a:ea typeface="Calibri"/>
                <a:cs typeface="Calibri"/>
                <a:sym typeface="Calibri"/>
              </a:defRPr>
            </a:lvl5pPr>
            <a:lvl6pPr indent="0" lvl="5" marL="0" marR="0" rtl="0" algn="ctr">
              <a:spcBef>
                <a:spcPts val="0"/>
              </a:spcBef>
              <a:buNone/>
              <a:defRPr b="1" i="0" sz="1100" u="none" cap="none" strike="noStrike">
                <a:solidFill>
                  <a:schemeClr val="dk2"/>
                </a:solidFill>
                <a:latin typeface="Calibri"/>
                <a:ea typeface="Calibri"/>
                <a:cs typeface="Calibri"/>
                <a:sym typeface="Calibri"/>
              </a:defRPr>
            </a:lvl6pPr>
            <a:lvl7pPr indent="0" lvl="6" marL="0" marR="0" rtl="0" algn="ctr">
              <a:spcBef>
                <a:spcPts val="0"/>
              </a:spcBef>
              <a:buNone/>
              <a:defRPr b="1" i="0" sz="1100" u="none" cap="none" strike="noStrike">
                <a:solidFill>
                  <a:schemeClr val="dk2"/>
                </a:solidFill>
                <a:latin typeface="Calibri"/>
                <a:ea typeface="Calibri"/>
                <a:cs typeface="Calibri"/>
                <a:sym typeface="Calibri"/>
              </a:defRPr>
            </a:lvl7pPr>
            <a:lvl8pPr indent="0" lvl="7" marL="0" marR="0" rtl="0" algn="ctr">
              <a:spcBef>
                <a:spcPts val="0"/>
              </a:spcBef>
              <a:buNone/>
              <a:defRPr b="1" i="0" sz="1100" u="none" cap="none" strike="noStrike">
                <a:solidFill>
                  <a:schemeClr val="dk2"/>
                </a:solidFill>
                <a:latin typeface="Calibri"/>
                <a:ea typeface="Calibri"/>
                <a:cs typeface="Calibri"/>
                <a:sym typeface="Calibri"/>
              </a:defRPr>
            </a:lvl8pPr>
            <a:lvl9pPr indent="0" lvl="8" marL="0" marR="0" rtl="0" algn="ctr">
              <a:spcBef>
                <a:spcPts val="0"/>
              </a:spcBef>
              <a:buNone/>
              <a:defRPr b="1" i="0" sz="1100" u="none" cap="none" strike="noStrike">
                <a:solidFill>
                  <a:schemeClr val="dk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b="0"/>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 name="Shape 24"/>
        <p:cNvGrpSpPr/>
        <p:nvPr/>
      </p:nvGrpSpPr>
      <p:grpSpPr>
        <a:xfrm>
          <a:off x="0" y="0"/>
          <a:ext cx="0" cy="0"/>
          <a:chOff x="0" y="0"/>
          <a:chExt cx="0" cy="0"/>
        </a:xfrm>
      </p:grpSpPr>
      <p:sp>
        <p:nvSpPr>
          <p:cNvPr id="25" name="Google Shape;25;p1"/>
          <p:cNvSpPr/>
          <p:nvPr/>
        </p:nvSpPr>
        <p:spPr>
          <a:xfrm rot="5400000">
            <a:off x="8841585" y="-1222527"/>
            <a:ext cx="3695502" cy="3200400"/>
          </a:xfrm>
          <a:prstGeom prst="hexagon">
            <a:avLst>
              <a:gd fmla="val 25000" name="adj"/>
              <a:gd fmla="val 115470" name="vf"/>
            </a:avLst>
          </a:prstGeom>
          <a:noFill/>
          <a:ln cap="flat" cmpd="sng" w="15875">
            <a:solidFill>
              <a:schemeClr val="accent4">
                <a:alpha val="50196"/>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rot="5400000">
            <a:off x="10524081" y="1691640"/>
            <a:ext cx="3695502" cy="3200400"/>
          </a:xfrm>
          <a:prstGeom prst="hexagon">
            <a:avLst>
              <a:gd fmla="val 25000" name="adj"/>
              <a:gd fmla="val 115470" name="vf"/>
            </a:avLst>
          </a:prstGeom>
          <a:solidFill>
            <a:schemeClr val="accent1">
              <a:alpha val="25098"/>
            </a:schemeClr>
          </a:solidFill>
          <a:ln cap="flat" cmpd="sng" w="15875">
            <a:solidFill>
              <a:schemeClr val="accent4">
                <a:alpha val="45098"/>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rot="5400000">
            <a:off x="8841585" y="4605807"/>
            <a:ext cx="3695502" cy="3200400"/>
          </a:xfrm>
          <a:prstGeom prst="hexagon">
            <a:avLst>
              <a:gd fmla="val 25000" name="adj"/>
              <a:gd fmla="val 115470" name="vf"/>
            </a:avLst>
          </a:prstGeom>
          <a:noFill/>
          <a:ln cap="flat" cmpd="sng" w="15875">
            <a:solidFill>
              <a:schemeClr val="accent4">
                <a:alpha val="50196"/>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rot="5400000">
            <a:off x="6613359" y="3177540"/>
            <a:ext cx="580722" cy="502920"/>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rot="5400000">
            <a:off x="10849583" y="1728216"/>
            <a:ext cx="337874" cy="292608"/>
          </a:xfrm>
          <a:prstGeom prst="hexagon">
            <a:avLst>
              <a:gd fmla="val 25000" name="adj"/>
              <a:gd fmla="val 115470" name="vf"/>
            </a:avLst>
          </a:prstGeom>
          <a:solidFill>
            <a:schemeClr val="accent3">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rot="5400000">
            <a:off x="6868728" y="1440180"/>
            <a:ext cx="4276224" cy="3703320"/>
          </a:xfrm>
          <a:prstGeom prst="hexagon">
            <a:avLst>
              <a:gd fmla="val 25000" name="adj"/>
              <a:gd fmla="val 115470" name="vf"/>
            </a:avLst>
          </a:prstGeom>
          <a:solidFill>
            <a:schemeClr val="accent1">
              <a:alpha val="4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rot="5400000">
            <a:off x="6755697" y="4800600"/>
            <a:ext cx="844686" cy="731520"/>
          </a:xfrm>
          <a:prstGeom prst="hexagon">
            <a:avLst>
              <a:gd fmla="val 25000" name="adj"/>
              <a:gd fmla="val 115470" name="vf"/>
            </a:avLst>
          </a:prstGeom>
          <a:noFill/>
          <a:ln cap="flat" cmpd="sng" w="19050">
            <a:solidFill>
              <a:schemeClr val="accent3">
                <a:alpha val="65098"/>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rot="5400000">
            <a:off x="7159089" y="1691640"/>
            <a:ext cx="3695502" cy="3200400"/>
          </a:xfrm>
          <a:prstGeom prst="hexagon">
            <a:avLst>
              <a:gd fmla="val 25000" name="adj"/>
              <a:gd fmla="val 115470" name="vf"/>
            </a:avLst>
          </a:prstGeom>
          <a:solidFill>
            <a:schemeClr val="lt1"/>
          </a:solid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enesis logo" id="33" name="Google Shape;33;p1"/>
          <p:cNvPicPr preferRelativeResize="0"/>
          <p:nvPr/>
        </p:nvPicPr>
        <p:blipFill rotWithShape="1">
          <a:blip r:embed="rId3">
            <a:alphaModFix/>
          </a:blip>
          <a:srcRect b="0" l="0" r="0" t="0"/>
          <a:stretch/>
        </p:blipFill>
        <p:spPr>
          <a:xfrm>
            <a:off x="8110766" y="2125980"/>
            <a:ext cx="1792148" cy="2331720"/>
          </a:xfrm>
          <a:prstGeom prst="rect">
            <a:avLst/>
          </a:prstGeom>
          <a:noFill/>
          <a:ln>
            <a:noFill/>
          </a:ln>
        </p:spPr>
      </p:pic>
      <p:sp>
        <p:nvSpPr>
          <p:cNvPr id="34" name="Google Shape;34;p1"/>
          <p:cNvSpPr txBox="1"/>
          <p:nvPr/>
        </p:nvSpPr>
        <p:spPr>
          <a:xfrm>
            <a:off x="548640" y="502920"/>
            <a:ext cx="5303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200"/>
              <a:buFont typeface="Calibri"/>
              <a:buNone/>
            </a:pPr>
            <a:r>
              <a:rPr b="1" i="0" lang="en-US" spc="400" sz="1200" u="none" cap="none" strike="noStrike">
                <a:solidFill>
                  <a:schemeClr val="accent3"/>
                </a:solidFill>
                <a:latin typeface="Calibri"/>
                <a:ea typeface="Calibri"/>
                <a:cs typeface="Calibri"/>
                <a:sym typeface="Calibri"/>
              </a:rPr>
              <a:t>PRE-IDEATHON TEMPLATE</a:t>
            </a:r>
            <a:endParaRPr b="0" i="0" sz="1200" u="none" cap="none" strike="noStrike">
              <a:solidFill>
                <a:schemeClr val="dk1"/>
              </a:solidFill>
              <a:latin typeface="Calibri"/>
              <a:ea typeface="Calibri"/>
              <a:cs typeface="Calibri"/>
              <a:sym typeface="Calibri"/>
            </a:endParaRPr>
          </a:p>
        </p:txBody>
      </p:sp>
      <p:sp>
        <p:nvSpPr>
          <p:cNvPr id="35" name="Google Shape;35;p1"/>
          <p:cNvSpPr txBox="1"/>
          <p:nvPr/>
        </p:nvSpPr>
        <p:spPr>
          <a:xfrm>
            <a:off x="548640" y="868680"/>
            <a:ext cx="5669280" cy="16002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5400"/>
              <a:buFont typeface="Cambria"/>
              <a:buNone/>
            </a:pPr>
            <a:r>
              <a:rPr b="1" i="0" lang="en-US" spc="200" sz="5400" u="none" cap="none" strike="noStrike">
                <a:solidFill>
                  <a:schemeClr val="lt1"/>
                </a:solidFill>
                <a:latin typeface="Cambria"/>
                <a:ea typeface="Cambria"/>
                <a:cs typeface="Cambria"/>
                <a:sym typeface="Cambria"/>
              </a:rPr>
              <a:t>GENESIS</a:t>
            </a:r>
            <a:endParaRPr b="0" i="0" sz="54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accent3"/>
              </a:buClr>
              <a:buSzPts val="5400"/>
              <a:buFont typeface="Cambria"/>
              <a:buNone/>
            </a:pPr>
            <a:r>
              <a:rPr b="1" i="0" lang="en-US" spc="200" sz="5400" u="none" cap="none" strike="noStrike">
                <a:solidFill>
                  <a:schemeClr val="accent3"/>
                </a:solidFill>
                <a:latin typeface="Cambria"/>
                <a:ea typeface="Cambria"/>
                <a:cs typeface="Cambria"/>
                <a:sym typeface="Cambria"/>
              </a:rPr>
              <a:t>IDEATHON</a:t>
            </a:r>
            <a:endParaRPr b="0" i="0" sz="5400" u="none" cap="none" strike="noStrike">
              <a:solidFill>
                <a:schemeClr val="dk1"/>
              </a:solidFill>
              <a:latin typeface="Calibri"/>
              <a:ea typeface="Calibri"/>
              <a:cs typeface="Calibri"/>
              <a:sym typeface="Calibri"/>
            </a:endParaRPr>
          </a:p>
        </p:txBody>
      </p:sp>
      <p:sp>
        <p:nvSpPr>
          <p:cNvPr id="36" name="Google Shape;36;p1"/>
          <p:cNvSpPr/>
          <p:nvPr/>
        </p:nvSpPr>
        <p:spPr>
          <a:xfrm>
            <a:off x="548640" y="2606040"/>
            <a:ext cx="2103120" cy="384048"/>
          </a:xfrm>
          <a:prstGeom prst="roundRect">
            <a:avLst>
              <a:gd fmla="val 50000" name="adj"/>
            </a:avLst>
          </a:prstGeom>
          <a:noFill/>
          <a:ln cap="flat" cmpd="sng" w="1587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pc="300" sz="1300" u="none" cap="none" strike="noStrike">
                <a:solidFill>
                  <a:schemeClr val="lt1"/>
                </a:solidFill>
                <a:latin typeface="Calibri"/>
                <a:ea typeface="Calibri"/>
                <a:cs typeface="Calibri"/>
                <a:sym typeface="Calibri"/>
              </a:rPr>
              <a:t>TEAM &amp; DOMAIN</a:t>
            </a:r>
            <a:endParaRPr b="0" i="0" sz="1300" u="none" cap="none" strike="noStrike">
              <a:solidFill>
                <a:schemeClr val="dk1"/>
              </a:solidFill>
              <a:latin typeface="Calibri"/>
              <a:ea typeface="Calibri"/>
              <a:cs typeface="Calibri"/>
              <a:sym typeface="Calibri"/>
            </a:endParaRPr>
          </a:p>
        </p:txBody>
      </p:sp>
      <p:sp>
        <p:nvSpPr>
          <p:cNvPr id="37" name="Google Shape;37;p1"/>
          <p:cNvSpPr txBox="1"/>
          <p:nvPr/>
        </p:nvSpPr>
        <p:spPr>
          <a:xfrm>
            <a:off x="328474" y="3127267"/>
            <a:ext cx="6826800" cy="3393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chemeClr val="accent3"/>
              </a:buClr>
              <a:buSzPts val="1800"/>
              <a:buFont typeface="Calibri"/>
              <a:buChar char="•"/>
            </a:pPr>
            <a:r>
              <a:rPr b="0" i="0" lang="en-US" sz="1800" u="none" cap="none" strike="noStrike">
                <a:solidFill>
                  <a:schemeClr val="lt1"/>
                </a:solidFill>
                <a:latin typeface="Calibri"/>
                <a:ea typeface="Calibri"/>
                <a:cs typeface="Calibri"/>
                <a:sym typeface="Calibri"/>
              </a:rPr>
              <a:t>Team Name – Dragon Ball Z</a:t>
            </a:r>
            <a:endParaRPr b="0" i="0" sz="1800" u="none" cap="none" strike="noStrike">
              <a:solidFill>
                <a:schemeClr val="dk1"/>
              </a:solidFill>
              <a:latin typeface="Calibri"/>
              <a:ea typeface="Calibri"/>
              <a:cs typeface="Calibri"/>
              <a:sym typeface="Calibri"/>
            </a:endParaRPr>
          </a:p>
          <a:p>
            <a:pPr indent="-279400" lvl="0" marL="279400" marR="0" rtl="0" algn="l">
              <a:spcBef>
                <a:spcPts val="1400"/>
              </a:spcBef>
              <a:spcAft>
                <a:spcPts val="0"/>
              </a:spcAft>
              <a:buClr>
                <a:schemeClr val="accent3"/>
              </a:buClr>
              <a:buSzPts val="1800"/>
              <a:buFont typeface="Calibri"/>
              <a:buChar char="•"/>
            </a:pPr>
            <a:r>
              <a:rPr b="0" i="0" lang="en-US" sz="1800" u="none" cap="none" strike="noStrike">
                <a:solidFill>
                  <a:schemeClr val="lt1"/>
                </a:solidFill>
                <a:latin typeface="Calibri"/>
                <a:ea typeface="Calibri"/>
                <a:cs typeface="Calibri"/>
                <a:sym typeface="Calibri"/>
              </a:rPr>
              <a:t>Team Members – S Nithin (CB.EN.U4AEE2504</a:t>
            </a:r>
            <a:r>
              <a:rPr lang="en-US" sz="1800">
                <a:solidFill>
                  <a:schemeClr val="lt1"/>
                </a:solidFill>
                <a:latin typeface="Calibri"/>
                <a:ea typeface="Calibri"/>
                <a:cs typeface="Calibri"/>
                <a:sym typeface="Calibri"/>
              </a:rPr>
              <a:t>1</a:t>
            </a:r>
            <a:r>
              <a:rPr b="0" i="0" lang="en-US" sz="1800" u="none" cap="none" strike="noStrike">
                <a:solidFill>
                  <a:schemeClr val="lt1"/>
                </a:solidFill>
                <a:latin typeface="Calibri"/>
                <a:ea typeface="Calibri"/>
                <a:cs typeface="Calibri"/>
                <a:sym typeface="Calibri"/>
              </a:rPr>
              <a:t>), Balaji V            (CB.EN.U4AEE25007), Madhavan N (CB.EN.U4AEE25027), Pranav R (CB.EN.U4AEE25036).</a:t>
            </a:r>
            <a:endParaRPr b="0" i="0" sz="1800" u="none" cap="none" strike="noStrike">
              <a:solidFill>
                <a:schemeClr val="dk1"/>
              </a:solidFill>
              <a:latin typeface="Calibri"/>
              <a:ea typeface="Calibri"/>
              <a:cs typeface="Calibri"/>
              <a:sym typeface="Calibri"/>
            </a:endParaRPr>
          </a:p>
          <a:p>
            <a:pPr indent="-279400" lvl="0" marL="279400" marR="0" rtl="0" algn="l">
              <a:spcBef>
                <a:spcPts val="1400"/>
              </a:spcBef>
              <a:spcAft>
                <a:spcPts val="0"/>
              </a:spcAft>
              <a:buClr>
                <a:schemeClr val="accent3"/>
              </a:buClr>
              <a:buSzPts val="1800"/>
              <a:buFont typeface="Calibri"/>
              <a:buChar char="•"/>
            </a:pPr>
            <a:r>
              <a:rPr b="0" i="0" lang="en-US" sz="1800" u="none" cap="none" strike="noStrike">
                <a:solidFill>
                  <a:schemeClr val="lt1"/>
                </a:solidFill>
                <a:latin typeface="Calibri"/>
                <a:ea typeface="Calibri"/>
                <a:cs typeface="Calibri"/>
                <a:sym typeface="Calibri"/>
              </a:rPr>
              <a:t>Selected Domain – Space, Aerospace, Mobility &amp; Next-Gen Infrastructure.</a:t>
            </a:r>
            <a:endParaRPr b="0" i="0" sz="1800" u="none" cap="none" strike="noStrike">
              <a:solidFill>
                <a:schemeClr val="dk1"/>
              </a:solidFill>
              <a:latin typeface="Calibri"/>
              <a:ea typeface="Calibri"/>
              <a:cs typeface="Calibri"/>
              <a:sym typeface="Calibri"/>
            </a:endParaRPr>
          </a:p>
          <a:p>
            <a:pPr indent="-279400" lvl="0" marL="279400" marR="0" rtl="0" algn="l">
              <a:spcBef>
                <a:spcPts val="1400"/>
              </a:spcBef>
              <a:spcAft>
                <a:spcPts val="0"/>
              </a:spcAft>
              <a:buClr>
                <a:schemeClr val="accent3"/>
              </a:buClr>
              <a:buSzPts val="1800"/>
              <a:buFont typeface="Calibri"/>
              <a:buChar char="•"/>
            </a:pPr>
            <a:r>
              <a:rPr b="0" i="0" lang="en-US" sz="1800" u="none" cap="none" strike="noStrike">
                <a:solidFill>
                  <a:schemeClr val="lt1"/>
                </a:solidFill>
                <a:latin typeface="Calibri"/>
                <a:ea typeface="Calibri"/>
                <a:cs typeface="Calibri"/>
                <a:sym typeface="Calibri"/>
              </a:rPr>
              <a:t>Problem Statement – How can an eVTOL automatically stay stable and under control when it changes from vertical takeoff to horizontal flight, where the aerodynamic forces, thrust direction, and control effectiveness are constantly changing?</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DOMAIN PROBLEM IN OUR WORDS</a:t>
            </a:r>
            <a:endParaRPr sz="2400"/>
          </a:p>
        </p:txBody>
      </p:sp>
      <p:sp>
        <p:nvSpPr>
          <p:cNvPr id="44" name="Google Shape;44;p2"/>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46" name="Google Shape;46;p2"/>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47" name="Google Shape;47;p2"/>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t/>
            </a:r>
            <a:endParaRPr b="1" spc="300" sz="1200">
              <a:solidFill>
                <a:schemeClr val="accent5"/>
              </a:solidFill>
              <a:latin typeface="Calibri"/>
              <a:ea typeface="Calibri"/>
              <a:cs typeface="Calibri"/>
              <a:sym typeface="Calibri"/>
            </a:endParaRPr>
          </a:p>
          <a:p>
            <a:pPr indent="0" lvl="0" marL="0" marR="0" rtl="0" algn="l">
              <a:spcBef>
                <a:spcPts val="0"/>
              </a:spcBef>
              <a:spcAft>
                <a:spcPts val="0"/>
              </a:spcAft>
              <a:buNone/>
            </a:pPr>
            <a:r>
              <a:rPr b="1" lang="en-US" spc="300" sz="900">
                <a:solidFill>
                  <a:schemeClr val="accent5"/>
                </a:solidFill>
                <a:latin typeface="Calibri"/>
                <a:ea typeface="Calibri"/>
                <a:cs typeface="Calibri"/>
                <a:sym typeface="Calibri"/>
              </a:rPr>
              <a:t>TEAM</a:t>
            </a:r>
            <a:endParaRPr b="1" sz="900">
              <a:solidFill>
                <a:schemeClr val="accent1"/>
              </a:solidFill>
              <a:latin typeface="Calibri"/>
              <a:ea typeface="Calibri"/>
              <a:cs typeface="Calibri"/>
              <a:sym typeface="Calibri"/>
            </a:endParaRPr>
          </a:p>
          <a:p>
            <a:pPr indent="0" lvl="0" marL="0" marR="0" rtl="0" algn="l">
              <a:spcBef>
                <a:spcPts val="0"/>
              </a:spcBef>
              <a:spcAft>
                <a:spcPts val="0"/>
              </a:spcAft>
              <a:buNone/>
            </a:pPr>
            <a:r>
              <a:rPr b="1" lang="en-US" sz="1800">
                <a:solidFill>
                  <a:schemeClr val="accent1"/>
                </a:solidFill>
                <a:latin typeface="Calibri"/>
                <a:ea typeface="Calibri"/>
                <a:cs typeface="Calibri"/>
                <a:sym typeface="Calibri"/>
              </a:rPr>
              <a:t>Dragon Ball Z</a:t>
            </a:r>
            <a:endParaRPr sz="16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48" name="Google Shape;48;p2"/>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49" name="Google Shape;49;p2"/>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50" name="Google Shape;50;p2"/>
          <p:cNvSpPr txBox="1"/>
          <p:nvPr/>
        </p:nvSpPr>
        <p:spPr>
          <a:xfrm>
            <a:off x="736092" y="2011680"/>
            <a:ext cx="10893656" cy="33681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51" name="Google Shape;51;p2"/>
          <p:cNvSpPr txBox="1"/>
          <p:nvPr/>
        </p:nvSpPr>
        <p:spPr>
          <a:xfrm>
            <a:off x="868680" y="2148840"/>
            <a:ext cx="10424160" cy="3426337"/>
          </a:xfrm>
          <a:prstGeom prst="rect">
            <a:avLst/>
          </a:prstGeom>
          <a:noFill/>
          <a:ln>
            <a:noFill/>
          </a:ln>
        </p:spPr>
        <p:txBody>
          <a:bodyPr anchorCtr="0" anchor="t" bIns="0" lIns="0" spcFirstLastPara="1" rIns="0" wrap="square" tIns="0">
            <a:noAutofit/>
          </a:bodyPr>
          <a:lstStyle/>
          <a:p>
            <a:pPr indent="-279400" lvl="0" marL="279400" marR="0" rtl="0" algn="just">
              <a:spcBef>
                <a:spcPts val="0"/>
              </a:spcBef>
              <a:spcAft>
                <a:spcPts val="0"/>
              </a:spcAft>
              <a:buClr>
                <a:schemeClr val="accent1"/>
              </a:buClr>
              <a:buSzPts val="1800"/>
              <a:buFont typeface="Calibri"/>
              <a:buChar char="•"/>
            </a:pPr>
            <a:r>
              <a:rPr lang="en-US" sz="1800">
                <a:solidFill>
                  <a:schemeClr val="dk1"/>
                </a:solidFill>
                <a:latin typeface="Calibri"/>
                <a:ea typeface="Calibri"/>
                <a:cs typeface="Calibri"/>
                <a:sym typeface="Calibri"/>
              </a:rPr>
              <a:t>A tilt-rotor eVTOL has to change from a vertical-flight condition to a forward-flight condition by changing the rotor direction. During this transition, the aircraft does not behave the same way as it does in hover or cruise. The change in rotor position can cause sudden changes in lift and moments. Wind and other disturbances can make the aircraft even harder to control. </a:t>
            </a:r>
            <a:endParaRPr/>
          </a:p>
          <a:p>
            <a:pPr indent="-279400" lvl="0" marL="279400" marR="0" rtl="0" algn="just">
              <a:spcBef>
                <a:spcPts val="1000"/>
              </a:spcBef>
              <a:spcAft>
                <a:spcPts val="0"/>
              </a:spcAft>
              <a:buClr>
                <a:schemeClr val="accent1"/>
              </a:buClr>
              <a:buSzPts val="1800"/>
              <a:buFont typeface="Calibri"/>
              <a:buChar char="•"/>
            </a:pPr>
            <a:r>
              <a:rPr lang="en-US" sz="1800">
                <a:solidFill>
                  <a:schemeClr val="dk1"/>
                </a:solidFill>
                <a:latin typeface="Calibri"/>
                <a:ea typeface="Calibri"/>
                <a:cs typeface="Calibri"/>
                <a:sym typeface="Calibri"/>
              </a:rPr>
              <a:t>The main problem is how to maintain the aircraft's stability while the rotors are transitioning between vertical and forward-flight positions. The transition needs to happen smoothly while keeping the aircraft attitude and flight path under control.</a:t>
            </a:r>
            <a:endParaRPr/>
          </a:p>
          <a:p>
            <a:pPr indent="-279400" lvl="0" marL="279400" marR="0" rtl="0" algn="just">
              <a:spcBef>
                <a:spcPts val="1000"/>
              </a:spcBef>
              <a:spcAft>
                <a:spcPts val="0"/>
              </a:spcAft>
              <a:buClr>
                <a:schemeClr val="accent1"/>
              </a:buClr>
              <a:buSzPts val="1800"/>
              <a:buFont typeface="Calibri"/>
              <a:buChar char="•"/>
            </a:pPr>
            <a:r>
              <a:rPr lang="en-US" sz="1800">
                <a:solidFill>
                  <a:schemeClr val="dk1"/>
                </a:solidFill>
                <a:latin typeface="Calibri"/>
                <a:ea typeface="Calibri"/>
                <a:cs typeface="Calibri"/>
                <a:sym typeface="Calibri"/>
              </a:rPr>
              <a:t>eVTOL aircraft are being developed for air taxis, emergency transportation, cargo delivery and other urban air mobility applications. A reliable transition between different flight modes is important because this is one of the most critical parts of the flight.</a:t>
            </a:r>
            <a:endParaRPr/>
          </a:p>
          <a:p>
            <a:pPr indent="-165100" lvl="0" marL="279400" marR="0" rtl="0" algn="l">
              <a:spcBef>
                <a:spcPts val="1000"/>
              </a:spcBef>
              <a:spcAft>
                <a:spcPts val="0"/>
              </a:spcAft>
              <a:buClr>
                <a:schemeClr val="accent1"/>
              </a:buClr>
              <a:buSzPts val="1800"/>
              <a:buFont typeface="Calibri"/>
              <a:buNone/>
            </a:pPr>
            <a:r>
              <a:t/>
            </a:r>
            <a:endParaRPr sz="1800">
              <a:solidFill>
                <a:schemeClr val="dk1"/>
              </a:solidFill>
              <a:latin typeface="Calibri"/>
              <a:ea typeface="Calibri"/>
              <a:cs typeface="Calibri"/>
              <a:sym typeface="Calibri"/>
            </a:endParaRPr>
          </a:p>
          <a:p>
            <a:pPr indent="-165100" lvl="0" marL="279400" marR="0" rtl="0" algn="l">
              <a:spcBef>
                <a:spcPts val="1000"/>
              </a:spcBef>
              <a:spcAft>
                <a:spcPts val="0"/>
              </a:spcAft>
              <a:buClr>
                <a:schemeClr val="accent1"/>
              </a:buClr>
              <a:buSzPts val="1800"/>
              <a:buFont typeface="Calibri"/>
              <a:buNone/>
            </a:pPr>
            <a:r>
              <a:t/>
            </a:r>
            <a:endParaRPr sz="1800">
              <a:solidFill>
                <a:schemeClr val="dk1"/>
              </a:solidFill>
              <a:latin typeface="Calibri"/>
              <a:ea typeface="Calibri"/>
              <a:cs typeface="Calibri"/>
              <a:sym typeface="Calibri"/>
            </a:endParaRPr>
          </a:p>
        </p:txBody>
      </p:sp>
      <p:sp>
        <p:nvSpPr>
          <p:cNvPr id="52" name="Google Shape;52;p2"/>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3"/>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WHO IS AFFECTED?</a:t>
            </a:r>
            <a:endParaRPr sz="2400"/>
          </a:p>
        </p:txBody>
      </p:sp>
      <p:sp>
        <p:nvSpPr>
          <p:cNvPr id="59" name="Google Shape;59;p3"/>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61" name="Google Shape;61;p3"/>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62" name="Google Shape;62;p3"/>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t/>
            </a:r>
            <a:endParaRPr b="1" spc="300" sz="1400">
              <a:solidFill>
                <a:schemeClr val="accent5"/>
              </a:solidFill>
              <a:latin typeface="Calibri"/>
              <a:ea typeface="Calibri"/>
              <a:cs typeface="Calibri"/>
              <a:sym typeface="Calibri"/>
            </a:endParaRPr>
          </a:p>
          <a:p>
            <a:pPr indent="0" lvl="0" marL="0" marR="0" rtl="0" algn="l">
              <a:spcBef>
                <a:spcPts val="0"/>
              </a:spcBef>
              <a:spcAft>
                <a:spcPts val="0"/>
              </a:spcAft>
              <a:buNone/>
            </a:pPr>
            <a:r>
              <a:rPr b="1" lang="en-US" spc="300" sz="900">
                <a:solidFill>
                  <a:schemeClr val="accent5"/>
                </a:solidFill>
                <a:latin typeface="Calibri"/>
                <a:ea typeface="Calibri"/>
                <a:cs typeface="Calibri"/>
                <a:sym typeface="Calibri"/>
              </a:rPr>
              <a:t>TEAM</a:t>
            </a:r>
            <a:endParaRPr b="1" sz="900">
              <a:solidFill>
                <a:schemeClr val="accent1"/>
              </a:solidFill>
              <a:latin typeface="Calibri"/>
              <a:ea typeface="Calibri"/>
              <a:cs typeface="Calibri"/>
              <a:sym typeface="Calibri"/>
            </a:endParaRPr>
          </a:p>
          <a:p>
            <a:pPr indent="0" lvl="0" marL="0" marR="0" rtl="0" algn="l">
              <a:spcBef>
                <a:spcPts val="0"/>
              </a:spcBef>
              <a:spcAft>
                <a:spcPts val="0"/>
              </a:spcAft>
              <a:buNone/>
            </a:pPr>
            <a:r>
              <a:rPr b="1" lang="en-US" sz="1600">
                <a:solidFill>
                  <a:schemeClr val="accent1"/>
                </a:solidFill>
                <a:latin typeface="Calibri"/>
                <a:ea typeface="Calibri"/>
                <a:cs typeface="Calibri"/>
                <a:sym typeface="Calibri"/>
              </a:rPr>
              <a:t>Dragon Ball Z</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p:txBody>
      </p:sp>
      <p:sp>
        <p:nvSpPr>
          <p:cNvPr id="63" name="Google Shape;63;p3"/>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64" name="Google Shape;64;p3"/>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65" name="Google Shape;65;p3"/>
          <p:cNvSpPr txBox="1"/>
          <p:nvPr/>
        </p:nvSpPr>
        <p:spPr>
          <a:xfrm>
            <a:off x="1170425" y="1417331"/>
            <a:ext cx="9601200" cy="481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2000">
                <a:solidFill>
                  <a:schemeClr val="dk1"/>
                </a:solidFill>
                <a:latin typeface="Calibri"/>
                <a:ea typeface="Calibri"/>
                <a:cs typeface="Calibri"/>
                <a:sym typeface="Calibri"/>
              </a:rPr>
              <a:t>Primary users / target group</a:t>
            </a:r>
            <a:endParaRPr b="1" sz="20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eVTOL aircraft operators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UAV/eVTOL developers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Secondary stakeholders</a:t>
            </a:r>
            <a:endParaRPr b="1" sz="20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Aerospace companies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Flight-control system developers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Aircraft designers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2000">
                <a:solidFill>
                  <a:schemeClr val="dk1"/>
                </a:solidFill>
                <a:latin typeface="Calibri"/>
                <a:ea typeface="Calibri"/>
                <a:cs typeface="Calibri"/>
                <a:sym typeface="Calibri"/>
              </a:rPr>
              <a:t>Who </a:t>
            </a:r>
            <a:r>
              <a:rPr b="1" lang="en-US" sz="2000">
                <a:solidFill>
                  <a:schemeClr val="dk1"/>
                </a:solidFill>
                <a:latin typeface="Calibri"/>
                <a:ea typeface="Calibri"/>
                <a:cs typeface="Calibri"/>
                <a:sym typeface="Calibri"/>
              </a:rPr>
              <a:t>benefits</a:t>
            </a:r>
            <a:r>
              <a:rPr b="1" lang="en-US" sz="2000">
                <a:solidFill>
                  <a:schemeClr val="dk1"/>
                </a:solidFill>
                <a:latin typeface="Calibri"/>
                <a:ea typeface="Calibri"/>
                <a:cs typeface="Calibri"/>
                <a:sym typeface="Calibri"/>
              </a:rPr>
              <a:t> if the problem is solved?</a:t>
            </a:r>
            <a:endParaRPr b="1" sz="20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If The aircraft can have a smoother and more predictable transition without </a:t>
            </a:r>
            <a:r>
              <a:rPr lang="en-US" sz="1800">
                <a:solidFill>
                  <a:schemeClr val="dk1"/>
                </a:solidFill>
                <a:latin typeface="Calibri"/>
                <a:ea typeface="Calibri"/>
                <a:cs typeface="Calibri"/>
                <a:sym typeface="Calibri"/>
              </a:rPr>
              <a:t>loss of stability and altitude during change in flight modes. It will improve flight safety, passenger comfort, travel time,predictability and the reliability of future eVTOL operations.</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3"/>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CURRENT SITUATION &amp; CONTEXT</a:t>
            </a:r>
            <a:endParaRPr sz="2400"/>
          </a:p>
        </p:txBody>
      </p:sp>
      <p:sp>
        <p:nvSpPr>
          <p:cNvPr id="73" name="Google Shape;73;p4"/>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75" name="Google Shape;75;p4"/>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76" name="Google Shape;76;p4"/>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t/>
            </a:r>
            <a:endParaRPr b="1" spc="300" sz="1400">
              <a:solidFill>
                <a:schemeClr val="accent5"/>
              </a:solidFill>
              <a:latin typeface="Calibri"/>
              <a:ea typeface="Calibri"/>
              <a:cs typeface="Calibri"/>
              <a:sym typeface="Calibri"/>
            </a:endParaRPr>
          </a:p>
          <a:p>
            <a:pPr indent="0" lvl="0" marL="0" marR="0" rtl="0" algn="l">
              <a:spcBef>
                <a:spcPts val="0"/>
              </a:spcBef>
              <a:spcAft>
                <a:spcPts val="0"/>
              </a:spcAft>
              <a:buNone/>
            </a:pPr>
            <a:r>
              <a:rPr b="1" lang="en-US" spc="300" sz="900">
                <a:solidFill>
                  <a:schemeClr val="accent5"/>
                </a:solidFill>
                <a:latin typeface="Calibri"/>
                <a:ea typeface="Calibri"/>
                <a:cs typeface="Calibri"/>
                <a:sym typeface="Calibri"/>
              </a:rPr>
              <a:t>TEAM</a:t>
            </a:r>
            <a:endParaRPr b="1" sz="900">
              <a:solidFill>
                <a:schemeClr val="accent1"/>
              </a:solidFill>
              <a:latin typeface="Calibri"/>
              <a:ea typeface="Calibri"/>
              <a:cs typeface="Calibri"/>
              <a:sym typeface="Calibri"/>
            </a:endParaRPr>
          </a:p>
          <a:p>
            <a:pPr indent="0" lvl="0" marL="0" marR="0" rtl="0" algn="l">
              <a:spcBef>
                <a:spcPts val="0"/>
              </a:spcBef>
              <a:spcAft>
                <a:spcPts val="0"/>
              </a:spcAft>
              <a:buNone/>
            </a:pPr>
            <a:r>
              <a:rPr b="1" lang="en-US" sz="1600">
                <a:solidFill>
                  <a:schemeClr val="accent1"/>
                </a:solidFill>
                <a:latin typeface="Calibri"/>
                <a:ea typeface="Calibri"/>
                <a:cs typeface="Calibri"/>
                <a:sym typeface="Calibri"/>
              </a:rPr>
              <a:t>Dragon Ball Z</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000"/>
              <a:buFont typeface="Calibri"/>
              <a:buNone/>
            </a:pPr>
            <a:r>
              <a:t/>
            </a:r>
            <a:endParaRPr sz="2000">
              <a:solidFill>
                <a:schemeClr val="dk1"/>
              </a:solidFill>
              <a:latin typeface="Calibri"/>
              <a:ea typeface="Calibri"/>
              <a:cs typeface="Calibri"/>
              <a:sym typeface="Calibri"/>
            </a:endParaRPr>
          </a:p>
        </p:txBody>
      </p:sp>
      <p:sp>
        <p:nvSpPr>
          <p:cNvPr id="77" name="Google Shape;77;p4"/>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78" name="Google Shape;78;p4"/>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79" name="Google Shape;79;p4"/>
          <p:cNvSpPr txBox="1"/>
          <p:nvPr/>
        </p:nvSpPr>
        <p:spPr>
          <a:xfrm>
            <a:off x="1101850" y="1475925"/>
            <a:ext cx="10424100" cy="47199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000">
                <a:solidFill>
                  <a:schemeClr val="dk1"/>
                </a:solidFill>
                <a:latin typeface="Calibri"/>
                <a:ea typeface="Calibri"/>
                <a:cs typeface="Calibri"/>
                <a:sym typeface="Calibri"/>
              </a:rPr>
              <a:t>Existing scenario</a:t>
            </a:r>
            <a:endParaRPr b="1" sz="2000">
              <a:solidFill>
                <a:schemeClr val="dk1"/>
              </a:solidFill>
              <a:latin typeface="Calibri"/>
              <a:ea typeface="Calibri"/>
              <a:cs typeface="Calibri"/>
              <a:sym typeface="Calibri"/>
            </a:endParaRPr>
          </a:p>
          <a:p>
            <a:pPr indent="-342900" lvl="0" marL="45720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In a tilt-rotor eVTOL, the rotors provide mainly vertical thrust during take-off and landing. As the aircraft transitions toward forward flight, the rotor system changes its orientation to contribute more thrust for forward motion.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During this process, the aircraft goes through an intermediate condition where the aerodynamic and propulsion forces are continuously changing.</a:t>
            </a:r>
            <a:endParaRPr sz="1800">
              <a:solidFill>
                <a:schemeClr val="dk1"/>
              </a:solidFill>
              <a:latin typeface="Calibri"/>
              <a:ea typeface="Calibri"/>
              <a:cs typeface="Calibri"/>
              <a:sym typeface="Calibri"/>
            </a:endParaRPr>
          </a:p>
          <a:p>
            <a:pPr indent="0" lvl="0" marL="0" rtl="0" algn="l">
              <a:spcBef>
                <a:spcPts val="1000"/>
              </a:spcBef>
              <a:spcAft>
                <a:spcPts val="0"/>
              </a:spcAft>
              <a:buNone/>
            </a:pPr>
            <a:r>
              <a:rPr b="1" lang="en-US" sz="2000">
                <a:solidFill>
                  <a:schemeClr val="dk1"/>
                </a:solidFill>
                <a:latin typeface="Calibri"/>
                <a:ea typeface="Calibri"/>
                <a:cs typeface="Calibri"/>
                <a:sym typeface="Calibri"/>
              </a:rPr>
              <a:t>Relevant facts</a:t>
            </a:r>
            <a:endParaRPr b="1" sz="2000">
              <a:solidFill>
                <a:schemeClr val="dk1"/>
              </a:solidFill>
              <a:latin typeface="Calibri"/>
              <a:ea typeface="Calibri"/>
              <a:cs typeface="Calibri"/>
              <a:sym typeface="Calibri"/>
            </a:endParaRPr>
          </a:p>
          <a:p>
            <a:pPr indent="-342900" lvl="0" marL="45720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Hover and cruise require different force and thrust conditions.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Aerodynamic forces increase as forward speed increases.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Rotor tilt changes the direction of the produced thrust.</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Rotor tilt changes the direction of the produced thrust.</a:t>
            </a:r>
            <a:endParaRPr sz="1800">
              <a:solidFill>
                <a:schemeClr val="dk1"/>
              </a:solidFill>
              <a:latin typeface="Calibri"/>
              <a:ea typeface="Calibri"/>
              <a:cs typeface="Calibri"/>
              <a:sym typeface="Calibri"/>
            </a:endParaRPr>
          </a:p>
          <a:p>
            <a:pPr indent="0" lvl="0" marL="0" rtl="0" algn="l">
              <a:spcBef>
                <a:spcPts val="1000"/>
              </a:spcBef>
              <a:spcAft>
                <a:spcPts val="0"/>
              </a:spcAft>
              <a:buNone/>
            </a:pPr>
            <a:r>
              <a:rPr b="1" lang="en-US" sz="2000">
                <a:solidFill>
                  <a:schemeClr val="dk1"/>
                </a:solidFill>
                <a:latin typeface="Calibri"/>
                <a:ea typeface="Calibri"/>
                <a:cs typeface="Calibri"/>
                <a:sym typeface="Calibri"/>
              </a:rPr>
              <a:t>Current workflow</a:t>
            </a:r>
            <a:endParaRPr b="1" sz="2000">
              <a:solidFill>
                <a:schemeClr val="dk1"/>
              </a:solidFill>
              <a:latin typeface="Calibri"/>
              <a:ea typeface="Calibri"/>
              <a:cs typeface="Calibri"/>
              <a:sym typeface="Calibri"/>
            </a:endParaRPr>
          </a:p>
          <a:p>
            <a:pPr indent="0" lvl="0" marL="0" rtl="0" algn="l">
              <a:spcBef>
                <a:spcPts val="1000"/>
              </a:spcBef>
              <a:spcAft>
                <a:spcPts val="0"/>
              </a:spcAft>
              <a:buNone/>
            </a:pPr>
            <a:r>
              <a:rPr lang="en-US" sz="1800">
                <a:solidFill>
                  <a:schemeClr val="dk1"/>
                </a:solidFill>
                <a:latin typeface="Calibri"/>
                <a:ea typeface="Calibri"/>
                <a:cs typeface="Calibri"/>
                <a:sym typeface="Calibri"/>
              </a:rPr>
              <a:t>Vertical flight → Rotor starts tilting → Forward speed increases → Aerodynamic forces change → Rotor continues tilting → Aircraft enters forward flight</a:t>
            </a:r>
            <a:endParaRPr sz="1800">
              <a:solidFill>
                <a:schemeClr val="dk1"/>
              </a:solidFill>
              <a:latin typeface="Calibri"/>
              <a:ea typeface="Calibri"/>
              <a:cs typeface="Calibri"/>
              <a:sym typeface="Calibri"/>
            </a:endParaRPr>
          </a:p>
        </p:txBody>
      </p:sp>
      <p:sp>
        <p:nvSpPr>
          <p:cNvPr id="80" name="Google Shape;80;p4"/>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KEY CHALLENGES</a:t>
            </a:r>
            <a:endParaRPr sz="2400"/>
          </a:p>
        </p:txBody>
      </p:sp>
      <p:sp>
        <p:nvSpPr>
          <p:cNvPr id="87" name="Google Shape;87;p5"/>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89" name="Google Shape;89;p5"/>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90" name="Google Shape;90;p5"/>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t/>
            </a:r>
            <a:endParaRPr b="1" spc="300" sz="1200">
              <a:solidFill>
                <a:schemeClr val="accent5"/>
              </a:solidFill>
              <a:latin typeface="Calibri"/>
              <a:ea typeface="Calibri"/>
              <a:cs typeface="Calibri"/>
              <a:sym typeface="Calibri"/>
            </a:endParaRPr>
          </a:p>
          <a:p>
            <a:pPr indent="0" lvl="0" marL="0" marR="0" rtl="0" algn="l">
              <a:spcBef>
                <a:spcPts val="0"/>
              </a:spcBef>
              <a:spcAft>
                <a:spcPts val="0"/>
              </a:spcAft>
              <a:buNone/>
            </a:pPr>
            <a:r>
              <a:rPr b="1" lang="en-US" spc="300" sz="900">
                <a:solidFill>
                  <a:schemeClr val="accent5"/>
                </a:solidFill>
                <a:latin typeface="Calibri"/>
                <a:ea typeface="Calibri"/>
                <a:cs typeface="Calibri"/>
                <a:sym typeface="Calibri"/>
              </a:rPr>
              <a:t>TEAM</a:t>
            </a:r>
            <a:endParaRPr b="1" sz="900">
              <a:solidFill>
                <a:schemeClr val="accent1"/>
              </a:solidFill>
              <a:latin typeface="Calibri"/>
              <a:ea typeface="Calibri"/>
              <a:cs typeface="Calibri"/>
              <a:sym typeface="Calibri"/>
            </a:endParaRPr>
          </a:p>
          <a:p>
            <a:pPr indent="0" lvl="0" marL="0" marR="0" rtl="0" algn="l">
              <a:spcBef>
                <a:spcPts val="0"/>
              </a:spcBef>
              <a:spcAft>
                <a:spcPts val="0"/>
              </a:spcAft>
              <a:buNone/>
            </a:pPr>
            <a:r>
              <a:rPr b="1" lang="en-US" sz="1600">
                <a:solidFill>
                  <a:schemeClr val="accent1"/>
                </a:solidFill>
                <a:latin typeface="Calibri"/>
                <a:ea typeface="Calibri"/>
                <a:cs typeface="Calibri"/>
                <a:sym typeface="Calibri"/>
              </a:rPr>
              <a:t>Dragon Ball Z</a:t>
            </a:r>
            <a:endParaRPr sz="14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p:txBody>
      </p:sp>
      <p:sp>
        <p:nvSpPr>
          <p:cNvPr id="91" name="Google Shape;91;p5"/>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92" name="Google Shape;92;p5"/>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93" name="Google Shape;93;p5"/>
          <p:cNvSpPr txBox="1"/>
          <p:nvPr/>
        </p:nvSpPr>
        <p:spPr>
          <a:xfrm>
            <a:off x="1005850" y="1523419"/>
            <a:ext cx="10424100" cy="473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Main difficulties and bottlenecks</a:t>
            </a:r>
            <a:endParaRPr b="1" sz="20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Sudden change in thrust direction</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Changing aerodynamic forces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Change in lift during transition</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Root causes behind them</a:t>
            </a:r>
            <a:endParaRPr b="1" sz="2000">
              <a:solidFill>
                <a:schemeClr val="dk1"/>
              </a:solidFill>
              <a:latin typeface="Calibri"/>
              <a:ea typeface="Calibri"/>
              <a:cs typeface="Calibri"/>
              <a:sym typeface="Calibri"/>
            </a:endParaRPr>
          </a:p>
          <a:p>
            <a:pPr indent="-342900" lvl="0" marL="457200" marR="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 rotors, aerodynamic surfaces and aircraft body do not produce the same forces throughout the transition. Because of this, a control system that works well in one flight mode may not behave the same way during another condition.</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Consequences of leaving them unsolved </a:t>
            </a:r>
            <a:endParaRPr b="1" sz="2000">
              <a:solidFill>
                <a:schemeClr val="dk1"/>
              </a:solidFill>
              <a:latin typeface="Calibri"/>
              <a:ea typeface="Calibri"/>
              <a:cs typeface="Calibri"/>
              <a:sym typeface="Calibri"/>
            </a:endParaRPr>
          </a:p>
          <a:p>
            <a:pPr indent="-342900" lvl="0" marL="457200" marR="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Loss of desired attitude or flight path.</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Unstable and unpredictable aircraft behaviour.</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Reduced operational safety.</a:t>
            </a:r>
            <a:endParaRPr sz="1800">
              <a:solidFill>
                <a:schemeClr val="dk1"/>
              </a:solidFill>
              <a:latin typeface="Calibri"/>
              <a:ea typeface="Calibri"/>
              <a:cs typeface="Calibri"/>
              <a:sym typeface="Calibri"/>
            </a:endParaRPr>
          </a:p>
        </p:txBody>
      </p:sp>
      <p:sp>
        <p:nvSpPr>
          <p:cNvPr id="94" name="Google Shape;94;p5"/>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6"/>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EXISTING SOLUTIONS / APPROACHES</a:t>
            </a:r>
            <a:endParaRPr sz="2400"/>
          </a:p>
        </p:txBody>
      </p:sp>
      <p:sp>
        <p:nvSpPr>
          <p:cNvPr id="101" name="Google Shape;101;p6"/>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03" name="Google Shape;103;p6"/>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04" name="Google Shape;104;p6"/>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None/>
            </a:pPr>
            <a:r>
              <a:rPr b="1" lang="en-US" spc="300" sz="900">
                <a:solidFill>
                  <a:schemeClr val="accent5"/>
                </a:solidFill>
                <a:latin typeface="Calibri"/>
                <a:ea typeface="Calibri"/>
                <a:cs typeface="Calibri"/>
                <a:sym typeface="Calibri"/>
              </a:rPr>
              <a:t>TEAM</a:t>
            </a:r>
            <a:endParaRPr b="1" sz="900">
              <a:solidFill>
                <a:schemeClr val="accent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Dragon Ball Z</a:t>
            </a:r>
            <a:endParaRPr sz="900">
              <a:solidFill>
                <a:schemeClr val="dk1"/>
              </a:solidFill>
              <a:latin typeface="Calibri"/>
              <a:ea typeface="Calibri"/>
              <a:cs typeface="Calibri"/>
              <a:sym typeface="Calibri"/>
            </a:endParaRPr>
          </a:p>
        </p:txBody>
      </p:sp>
      <p:sp>
        <p:nvSpPr>
          <p:cNvPr id="105" name="Google Shape;105;p6"/>
          <p:cNvSpPr/>
          <p:nvPr/>
        </p:nvSpPr>
        <p:spPr>
          <a:xfrm>
            <a:off x="548653" y="1224078"/>
            <a:ext cx="457200" cy="396000"/>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06" name="Google Shape;106;p6"/>
          <p:cNvPicPr preferRelativeResize="0"/>
          <p:nvPr/>
        </p:nvPicPr>
        <p:blipFill rotWithShape="1">
          <a:blip r:embed="rId4">
            <a:alphaModFix/>
          </a:blip>
          <a:srcRect b="0" l="0" r="0" t="0"/>
          <a:stretch/>
        </p:blipFill>
        <p:spPr>
          <a:xfrm>
            <a:off x="640092" y="1284890"/>
            <a:ext cx="274320" cy="274320"/>
          </a:xfrm>
          <a:prstGeom prst="rect">
            <a:avLst/>
          </a:prstGeom>
          <a:noFill/>
          <a:ln>
            <a:noFill/>
          </a:ln>
        </p:spPr>
      </p:pic>
      <p:sp>
        <p:nvSpPr>
          <p:cNvPr id="107" name="Google Shape;107;p6"/>
          <p:cNvSpPr txBox="1"/>
          <p:nvPr/>
        </p:nvSpPr>
        <p:spPr>
          <a:xfrm>
            <a:off x="1050150" y="1284900"/>
            <a:ext cx="10424100" cy="508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Existing methods, systems or alternatives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Flight-control computers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IMU-based attitude sensing</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Rotor/thrust control</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Tilt-angle control</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Electronic stabilization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Feedback control systems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Different control modes for different flight conditions</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Limitations of each</a:t>
            </a:r>
            <a:endParaRPr sz="1800">
              <a:solidFill>
                <a:schemeClr val="dk1"/>
              </a:solidFill>
              <a:latin typeface="Calibri"/>
              <a:ea typeface="Calibri"/>
              <a:cs typeface="Calibri"/>
              <a:sym typeface="Calibri"/>
            </a:endParaRPr>
          </a:p>
          <a:p>
            <a:pPr indent="-342900" lvl="0" marL="457200" marR="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 aircraft behaviour changes continuously during transition, so fixed control settings may not be ideal throughout the complete transition.</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The gap they leave open </a:t>
            </a:r>
            <a:endParaRPr sz="1800">
              <a:solidFill>
                <a:schemeClr val="dk1"/>
              </a:solidFill>
              <a:latin typeface="Calibri"/>
              <a:ea typeface="Calibri"/>
              <a:cs typeface="Calibri"/>
              <a:sym typeface="Calibri"/>
            </a:endParaRPr>
          </a:p>
          <a:p>
            <a:pPr indent="-342900" lvl="0" marL="45720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There is an opportunity to investigate a control approach that adjusts its response according to the aircraft's changing flight condition.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Possible areas include better coordination of rotor tilt and motor thrust, maintaining altitude during the transition, reducing pitch and roll deviations, and responding to disturbances.</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t/>
            </a:r>
            <a:endParaRPr sz="1800">
              <a:solidFill>
                <a:schemeClr val="dk1"/>
              </a:solidFill>
              <a:latin typeface="Calibri"/>
              <a:ea typeface="Calibri"/>
              <a:cs typeface="Calibri"/>
              <a:sym typeface="Calibri"/>
            </a:endParaRPr>
          </a:p>
        </p:txBody>
      </p:sp>
      <p:sp>
        <p:nvSpPr>
          <p:cNvPr id="108" name="Google Shape;108;p6"/>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7"/>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PROBLEM INSIGHTS &amp; OPPORTUNITY AREAS </a:t>
            </a:r>
            <a:endParaRPr sz="2400"/>
          </a:p>
        </p:txBody>
      </p:sp>
      <p:sp>
        <p:nvSpPr>
          <p:cNvPr id="115" name="Google Shape;115;p7"/>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17" name="Google Shape;117;p7"/>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18" name="Google Shape;118;p7"/>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Dragon Ball Z</a:t>
            </a:r>
            <a:endParaRPr sz="900">
              <a:solidFill>
                <a:schemeClr val="dk1"/>
              </a:solidFill>
              <a:latin typeface="Calibri"/>
              <a:ea typeface="Calibri"/>
              <a:cs typeface="Calibri"/>
              <a:sym typeface="Calibri"/>
            </a:endParaRPr>
          </a:p>
        </p:txBody>
      </p:sp>
      <p:sp>
        <p:nvSpPr>
          <p:cNvPr id="119" name="Google Shape;119;p7"/>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20" name="Google Shape;120;p7"/>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121" name="Google Shape;121;p7"/>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Resources required to solve the problem</a:t>
            </a:r>
            <a:endParaRPr sz="1800">
              <a:solidFill>
                <a:schemeClr val="dk1"/>
              </a:solidFill>
              <a:latin typeface="Calibri"/>
              <a:ea typeface="Calibri"/>
              <a:cs typeface="Calibri"/>
              <a:sym typeface="Calibri"/>
            </a:endParaRPr>
          </a:p>
        </p:txBody>
      </p:sp>
      <p:sp>
        <p:nvSpPr>
          <p:cNvPr id="122" name="Google Shape;122;p7"/>
          <p:cNvSpPr txBox="1"/>
          <p:nvPr/>
        </p:nvSpPr>
        <p:spPr>
          <a:xfrm>
            <a:off x="868675" y="1858976"/>
            <a:ext cx="10424100" cy="4422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Hardware Requirements</a:t>
            </a:r>
            <a:endParaRPr b="1" sz="20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Four vertical-lift motors and propellers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Mechanically deployable and retractable lift pylons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Rear-mounted pusher propulsion</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Actuators, position sensors and mechanical locking</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Transition monitoring and control system</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Software Requirements</a:t>
            </a:r>
            <a:endParaRPr b="1" sz="2000">
              <a:solidFill>
                <a:schemeClr val="dk1"/>
              </a:solidFill>
              <a:latin typeface="Calibri"/>
              <a:ea typeface="Calibri"/>
              <a:cs typeface="Calibri"/>
              <a:sym typeface="Calibri"/>
            </a:endParaRPr>
          </a:p>
          <a:p>
            <a:pPr indent="-342900" lvl="0" marL="457200" marR="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SolidWorks/Fusion 360 (CAD), ANSYS (aerodynamics), MATLAB/Simulink (control simulation).</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Other resources</a:t>
            </a:r>
            <a:endParaRPr sz="1800">
              <a:solidFill>
                <a:schemeClr val="dk1"/>
              </a:solidFill>
              <a:latin typeface="Calibri"/>
              <a:ea typeface="Calibri"/>
              <a:cs typeface="Calibri"/>
              <a:sym typeface="Calibri"/>
            </a:endParaRPr>
          </a:p>
          <a:p>
            <a:pPr indent="-342900" lvl="0" marL="457200" marR="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Aircraft performance data, aerospace expertise, simulation and testing facilities.</a:t>
            </a:r>
            <a:endParaRPr sz="1800">
              <a:solidFill>
                <a:schemeClr val="dk1"/>
              </a:solidFill>
              <a:latin typeface="Calibri"/>
              <a:ea typeface="Calibri"/>
              <a:cs typeface="Calibri"/>
              <a:sym typeface="Calibri"/>
            </a:endParaRPr>
          </a:p>
        </p:txBody>
      </p:sp>
      <p:sp>
        <p:nvSpPr>
          <p:cNvPr id="123" name="Google Shape;123;p7"/>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INITIAL DIRECTION &amp; EXPECTED OUTCOME</a:t>
            </a:r>
            <a:endParaRPr sz="2400"/>
          </a:p>
        </p:txBody>
      </p:sp>
      <p:sp>
        <p:nvSpPr>
          <p:cNvPr id="130" name="Google Shape;130;p8"/>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32" name="Google Shape;132;p8"/>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33" name="Google Shape;133;p8"/>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Dragon Ball Z</a:t>
            </a:r>
            <a:endParaRPr/>
          </a:p>
        </p:txBody>
      </p:sp>
      <p:sp>
        <p:nvSpPr>
          <p:cNvPr id="134" name="Google Shape;134;p8"/>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35" name="Google Shape;135;p8"/>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136" name="Google Shape;136;p8"/>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What Is Our Expected Outcome?</a:t>
            </a:r>
            <a:endParaRPr sz="1800">
              <a:solidFill>
                <a:schemeClr val="dk1"/>
              </a:solidFill>
              <a:latin typeface="Calibri"/>
              <a:ea typeface="Calibri"/>
              <a:cs typeface="Calibri"/>
              <a:sym typeface="Calibri"/>
            </a:endParaRPr>
          </a:p>
        </p:txBody>
      </p:sp>
      <p:sp>
        <p:nvSpPr>
          <p:cNvPr id="137" name="Google Shape;137;p8"/>
          <p:cNvSpPr txBox="1"/>
          <p:nvPr/>
        </p:nvSpPr>
        <p:spPr>
          <a:xfrm>
            <a:off x="868675" y="2148861"/>
            <a:ext cx="10424100" cy="353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What team intends to do</a:t>
            </a:r>
            <a:endParaRPr sz="1800">
              <a:solidFill>
                <a:schemeClr val="dk1"/>
              </a:solidFill>
              <a:latin typeface="Calibri"/>
              <a:ea typeface="Calibri"/>
              <a:cs typeface="Calibri"/>
              <a:sym typeface="Calibri"/>
            </a:endParaRPr>
          </a:p>
          <a:p>
            <a:pPr indent="-342900" lvl="0" marL="457200" marR="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Reduced cruise drag, smoother VTOL transition and safer lift-module retraction.</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What we want to improve</a:t>
            </a:r>
            <a:endParaRPr sz="1900">
              <a:solidFill>
                <a:schemeClr val="dk1"/>
              </a:solidFill>
              <a:latin typeface="Calibri"/>
              <a:ea typeface="Calibri"/>
              <a:cs typeface="Calibri"/>
              <a:sym typeface="Calibri"/>
            </a:endParaRPr>
          </a:p>
          <a:p>
            <a:pPr indent="-342900" lvl="0" marL="457200" marR="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Improved aerodynamic efficiency and controlled transition behaviour.</a:t>
            </a:r>
            <a:endParaRPr sz="1800">
              <a:solidFill>
                <a:schemeClr val="dk1"/>
              </a:solidFill>
              <a:latin typeface="Calibri"/>
              <a:ea typeface="Calibri"/>
              <a:cs typeface="Calibri"/>
              <a:sym typeface="Calibri"/>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What successful improvement should we need to achieve</a:t>
            </a:r>
            <a:endParaRPr sz="1800">
              <a:solidFill>
                <a:schemeClr val="dk1"/>
              </a:solidFill>
              <a:latin typeface="Calibri"/>
              <a:ea typeface="Calibri"/>
              <a:cs typeface="Calibri"/>
              <a:sym typeface="Calibri"/>
            </a:endParaRPr>
          </a:p>
          <a:p>
            <a:pPr indent="-342900" lvl="0" marL="457200" marR="0" rtl="0" algn="l">
              <a:spcBef>
                <a:spcPts val="100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Lower drag, reduced transition disturbances, reliable retraction and maintained lift capability.</a:t>
            </a:r>
            <a:endParaRPr sz="1800">
              <a:solidFill>
                <a:schemeClr val="dk1"/>
              </a:solidFill>
              <a:latin typeface="Calibri"/>
              <a:ea typeface="Calibri"/>
              <a:cs typeface="Calibri"/>
              <a:sym typeface="Calibri"/>
            </a:endParaRPr>
          </a:p>
        </p:txBody>
      </p:sp>
      <p:sp>
        <p:nvSpPr>
          <p:cNvPr id="138" name="Google Shape;138;p8"/>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type="title"/>
          </p:nvPr>
        </p:nvSpPr>
        <p:spPr>
          <a:xfrm>
            <a:off x="3246120" y="320040"/>
            <a:ext cx="7498080" cy="8229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2"/>
              </a:buClr>
              <a:buSzPts val="2400"/>
              <a:buFont typeface="Cambria"/>
              <a:buNone/>
            </a:pPr>
            <a:r>
              <a:rPr b="1" lang="en-US" spc="100" sz="2400">
                <a:solidFill>
                  <a:schemeClr val="dk2"/>
                </a:solidFill>
                <a:latin typeface="Cambria"/>
                <a:ea typeface="Cambria"/>
                <a:cs typeface="Cambria"/>
                <a:sym typeface="Cambria"/>
              </a:rPr>
              <a:t>TEAM CONTRIBUTION</a:t>
            </a:r>
            <a:endParaRPr sz="2400"/>
          </a:p>
        </p:txBody>
      </p:sp>
      <p:sp>
        <p:nvSpPr>
          <p:cNvPr id="145" name="Google Shape;145;p9"/>
          <p:cNvSpPr/>
          <p:nvPr/>
        </p:nvSpPr>
        <p:spPr>
          <a:xfrm>
            <a:off x="457200" y="320040"/>
            <a:ext cx="2606040" cy="822960"/>
          </a:xfrm>
          <a:prstGeom prst="roundRect">
            <a:avLst>
              <a:gd fmla="val 13333" name="adj"/>
            </a:avLst>
          </a:prstGeom>
          <a:solidFill>
            <a:schemeClr val="lt1"/>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603504" y="457200"/>
            <a:ext cx="630936" cy="548640"/>
          </a:xfrm>
          <a:prstGeom prst="hexagon">
            <a:avLst>
              <a:gd fmla="val 25000" name="adj"/>
              <a:gd fmla="val 115470" name="vf"/>
            </a:avLst>
          </a:prstGeom>
          <a:solidFill>
            <a:schemeClr val="lt2"/>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eam icon" id="147" name="Google Shape;147;p9"/>
          <p:cNvPicPr preferRelativeResize="0"/>
          <p:nvPr/>
        </p:nvPicPr>
        <p:blipFill rotWithShape="1">
          <a:blip r:embed="rId3">
            <a:alphaModFix/>
          </a:blip>
          <a:srcRect b="0" l="0" r="0" t="0"/>
          <a:stretch/>
        </p:blipFill>
        <p:spPr>
          <a:xfrm>
            <a:off x="736092" y="548640"/>
            <a:ext cx="365760" cy="365760"/>
          </a:xfrm>
          <a:prstGeom prst="rect">
            <a:avLst/>
          </a:prstGeom>
          <a:noFill/>
          <a:ln>
            <a:noFill/>
          </a:ln>
        </p:spPr>
      </p:pic>
      <p:sp>
        <p:nvSpPr>
          <p:cNvPr id="148" name="Google Shape;148;p9"/>
          <p:cNvSpPr txBox="1"/>
          <p:nvPr/>
        </p:nvSpPr>
        <p:spPr>
          <a:xfrm>
            <a:off x="1371600" y="384048"/>
            <a:ext cx="1627632" cy="6949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chemeClr val="accent5"/>
              </a:buClr>
              <a:buSzPts val="900"/>
              <a:buFont typeface="Calibri"/>
              <a:buNone/>
            </a:pPr>
            <a:r>
              <a:rPr b="1" lang="en-US" spc="300" sz="900">
                <a:solidFill>
                  <a:schemeClr val="accent5"/>
                </a:solidFill>
                <a:latin typeface="Calibri"/>
                <a:ea typeface="Calibri"/>
                <a:cs typeface="Calibri"/>
                <a:sym typeface="Calibri"/>
              </a:rPr>
              <a:t>TEAM</a:t>
            </a:r>
            <a:endParaRPr sz="900">
              <a:solidFill>
                <a:schemeClr val="dk1"/>
              </a:solidFill>
              <a:latin typeface="Calibri"/>
              <a:ea typeface="Calibri"/>
              <a:cs typeface="Calibri"/>
              <a:sym typeface="Calibri"/>
            </a:endParaRPr>
          </a:p>
          <a:p>
            <a:pPr indent="0" lvl="0" marL="0" marR="0" rtl="0" algn="l">
              <a:spcBef>
                <a:spcPts val="0"/>
              </a:spcBef>
              <a:spcAft>
                <a:spcPts val="0"/>
              </a:spcAft>
              <a:buClr>
                <a:schemeClr val="accent1"/>
              </a:buClr>
              <a:buSzPts val="1500"/>
              <a:buFont typeface="Calibri"/>
              <a:buNone/>
            </a:pPr>
            <a:r>
              <a:rPr b="1" lang="en-US" sz="1500">
                <a:solidFill>
                  <a:schemeClr val="accent1"/>
                </a:solidFill>
                <a:latin typeface="Calibri"/>
                <a:ea typeface="Calibri"/>
                <a:cs typeface="Calibri"/>
                <a:sym typeface="Calibri"/>
              </a:rPr>
              <a:t>Dragon Ball Z</a:t>
            </a:r>
            <a:endParaRPr sz="900">
              <a:solidFill>
                <a:schemeClr val="dk1"/>
              </a:solidFill>
              <a:latin typeface="Calibri"/>
              <a:ea typeface="Calibri"/>
              <a:cs typeface="Calibri"/>
              <a:sym typeface="Calibri"/>
            </a:endParaRPr>
          </a:p>
        </p:txBody>
      </p:sp>
      <p:sp>
        <p:nvSpPr>
          <p:cNvPr id="149" name="Google Shape;149;p9"/>
          <p:cNvSpPr/>
          <p:nvPr/>
        </p:nvSpPr>
        <p:spPr>
          <a:xfrm>
            <a:off x="548640" y="1463040"/>
            <a:ext cx="457200" cy="395935"/>
          </a:xfrm>
          <a:prstGeom prst="hexagon">
            <a:avLst>
              <a:gd fmla="val 25000" name="adj"/>
              <a:gd fmla="val 115470" name="vf"/>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con" id="150" name="Google Shape;150;p9"/>
          <p:cNvPicPr preferRelativeResize="0"/>
          <p:nvPr/>
        </p:nvPicPr>
        <p:blipFill rotWithShape="1">
          <a:blip r:embed="rId4">
            <a:alphaModFix/>
          </a:blip>
          <a:srcRect b="0" l="0" r="0" t="0"/>
          <a:stretch/>
        </p:blipFill>
        <p:spPr>
          <a:xfrm>
            <a:off x="640080" y="1523390"/>
            <a:ext cx="274320" cy="274320"/>
          </a:xfrm>
          <a:prstGeom prst="rect">
            <a:avLst/>
          </a:prstGeom>
          <a:noFill/>
          <a:ln>
            <a:noFill/>
          </a:ln>
        </p:spPr>
      </p:pic>
      <p:sp>
        <p:nvSpPr>
          <p:cNvPr id="151" name="Google Shape;151;p9"/>
          <p:cNvSpPr txBox="1"/>
          <p:nvPr/>
        </p:nvSpPr>
        <p:spPr>
          <a:xfrm>
            <a:off x="1170432" y="1417320"/>
            <a:ext cx="9601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800"/>
              <a:buFont typeface="Calibri"/>
              <a:buNone/>
            </a:pPr>
            <a:r>
              <a:rPr b="1" lang="en-US" sz="1800">
                <a:solidFill>
                  <a:schemeClr val="accent2"/>
                </a:solidFill>
                <a:latin typeface="Calibri"/>
                <a:ea typeface="Calibri"/>
                <a:cs typeface="Calibri"/>
                <a:sym typeface="Calibri"/>
              </a:rPr>
              <a:t>Who will handle which part of the execution</a:t>
            </a:r>
            <a:endParaRPr sz="1800">
              <a:solidFill>
                <a:schemeClr val="dk1"/>
              </a:solidFill>
              <a:latin typeface="Calibri"/>
              <a:ea typeface="Calibri"/>
              <a:cs typeface="Calibri"/>
              <a:sym typeface="Calibri"/>
            </a:endParaRPr>
          </a:p>
        </p:txBody>
      </p:sp>
      <p:graphicFrame>
        <p:nvGraphicFramePr>
          <p:cNvPr id="152" name="Google Shape;152;p9"/>
          <p:cNvGraphicFramePr/>
          <p:nvPr/>
        </p:nvGraphicFramePr>
        <p:xfrm>
          <a:off x="548640" y="2194560"/>
          <a:ext cx="3000000" cy="3000000"/>
        </p:xfrm>
        <a:graphic>
          <a:graphicData uri="http://schemas.openxmlformats.org/drawingml/2006/table">
            <a:tbl>
              <a:tblPr>
                <a:noFill/>
                <a:tableStyleId>{33D7F81D-7198-4B6B-83BC-A4E2CF6B9070}</a:tableStyleId>
              </a:tblPr>
              <a:tblGrid>
                <a:gridCol w="3017525"/>
                <a:gridCol w="2560325"/>
                <a:gridCol w="5516575"/>
              </a:tblGrid>
              <a:tr h="548650">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latin typeface="Calibri"/>
                          <a:ea typeface="Calibri"/>
                          <a:cs typeface="Calibri"/>
                          <a:sym typeface="Calibri"/>
                        </a:rPr>
                        <a:t>Team Member</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latin typeface="Calibri"/>
                          <a:ea typeface="Calibri"/>
                          <a:cs typeface="Calibri"/>
                          <a:sym typeface="Calibri"/>
                        </a:rPr>
                        <a:t>Role</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accent1"/>
                    </a:solidFill>
                  </a:tcPr>
                </a:tc>
                <a:tc>
                  <a:txBody>
                    <a:bodyPr/>
                    <a:lstStyle/>
                    <a:p>
                      <a:pPr indent="0" lvl="0" marL="0" marR="0" rtl="0" algn="l">
                        <a:spcBef>
                          <a:spcPts val="0"/>
                        </a:spcBef>
                        <a:spcAft>
                          <a:spcPts val="0"/>
                        </a:spcAft>
                        <a:buClr>
                          <a:schemeClr val="lt1"/>
                        </a:buClr>
                        <a:buSzPts val="1400"/>
                        <a:buFont typeface="Calibri"/>
                        <a:buNone/>
                      </a:pPr>
                      <a:r>
                        <a:rPr b="1" lang="en-US" sz="1400" u="none" cap="none" strike="noStrike">
                          <a:solidFill>
                            <a:schemeClr val="lt1"/>
                          </a:solidFill>
                          <a:latin typeface="Calibri"/>
                          <a:ea typeface="Calibri"/>
                          <a:cs typeface="Calibri"/>
                          <a:sym typeface="Calibri"/>
                        </a:rPr>
                        <a:t>Responsibility in Execution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accent1"/>
                    </a:solidFill>
                  </a:tcPr>
                </a:tc>
              </a:tr>
              <a:tr h="731525">
                <a:tc>
                  <a:txBody>
                    <a:bodyPr/>
                    <a:lstStyle/>
                    <a:p>
                      <a:pPr indent="0" lvl="0" marL="0" marR="0" rtl="0" algn="l">
                        <a:spcBef>
                          <a:spcPts val="0"/>
                        </a:spcBef>
                        <a:spcAft>
                          <a:spcPts val="0"/>
                        </a:spcAft>
                        <a:buClr>
                          <a:schemeClr val="dk1"/>
                        </a:buClr>
                        <a:buSzPts val="1400"/>
                        <a:buFont typeface="Calibri"/>
                        <a:buNone/>
                      </a:pPr>
                      <a:r>
                        <a:rPr b="1" lang="en-US">
                          <a:latin typeface="Calibri"/>
                          <a:ea typeface="Calibri"/>
                          <a:cs typeface="Calibri"/>
                          <a:sym typeface="Calibri"/>
                        </a:rPr>
                        <a:t>Pranav R</a:t>
                      </a:r>
                      <a:endParaRPr b="1"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Introduction Lead</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Explain the problem, background and need for the proposed solution.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r h="731525">
                <a:tc>
                  <a:txBody>
                    <a:bodyPr/>
                    <a:lstStyle/>
                    <a:p>
                      <a:pPr indent="0" lvl="0" marL="0" marR="0" rtl="0" algn="l">
                        <a:spcBef>
                          <a:spcPts val="0"/>
                        </a:spcBef>
                        <a:spcAft>
                          <a:spcPts val="0"/>
                        </a:spcAft>
                        <a:buClr>
                          <a:schemeClr val="dk1"/>
                        </a:buClr>
                        <a:buSzPts val="1400"/>
                        <a:buFont typeface="Calibri"/>
                        <a:buNone/>
                      </a:pPr>
                      <a:r>
                        <a:rPr b="1" lang="en-US">
                          <a:solidFill>
                            <a:schemeClr val="dk1"/>
                          </a:solidFill>
                          <a:latin typeface="Calibri"/>
                          <a:ea typeface="Calibri"/>
                          <a:cs typeface="Calibri"/>
                          <a:sym typeface="Calibri"/>
                        </a:rPr>
                        <a:t>Balaji V</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latin typeface="Calibri"/>
                          <a:ea typeface="Calibri"/>
                          <a:cs typeface="Calibri"/>
                          <a:sym typeface="Calibri"/>
                        </a:rPr>
                        <a:t>Existing Solutions Analyst</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latin typeface="Calibri"/>
                          <a:ea typeface="Calibri"/>
                          <a:cs typeface="Calibri"/>
                          <a:sym typeface="Calibri"/>
                        </a:rPr>
                        <a:t>Research current eVTOL designs, limitations and the identified gap.</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r h="731525">
                <a:tc>
                  <a:txBody>
                    <a:bodyPr/>
                    <a:lstStyle/>
                    <a:p>
                      <a:pPr indent="0" lvl="0" marL="0" marR="0" rtl="0" algn="l">
                        <a:spcBef>
                          <a:spcPts val="0"/>
                        </a:spcBef>
                        <a:spcAft>
                          <a:spcPts val="0"/>
                        </a:spcAft>
                        <a:buClr>
                          <a:schemeClr val="dk1"/>
                        </a:buClr>
                        <a:buSzPts val="1400"/>
                        <a:buFont typeface="Calibri"/>
                        <a:buNone/>
                      </a:pPr>
                      <a:r>
                        <a:rPr b="1" lang="en-US">
                          <a:solidFill>
                            <a:schemeClr val="dk1"/>
                          </a:solidFill>
                          <a:latin typeface="Calibri"/>
                          <a:ea typeface="Calibri"/>
                          <a:cs typeface="Calibri"/>
                          <a:sym typeface="Calibri"/>
                        </a:rPr>
                        <a:t>S Nithin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Concept Design Lead</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Explain the AeroGlide Retrofit concept, working principle and hardware integration.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r h="731525">
                <a:tc>
                  <a:txBody>
                    <a:bodyPr/>
                    <a:lstStyle/>
                    <a:p>
                      <a:pPr indent="0" lvl="0" marL="0" marR="0" rtl="0" algn="l">
                        <a:spcBef>
                          <a:spcPts val="0"/>
                        </a:spcBef>
                        <a:spcAft>
                          <a:spcPts val="0"/>
                        </a:spcAft>
                        <a:buClr>
                          <a:schemeClr val="dk1"/>
                        </a:buClr>
                        <a:buSzPts val="1400"/>
                        <a:buFont typeface="Calibri"/>
                        <a:buNone/>
                      </a:pPr>
                      <a:r>
                        <a:rPr b="1" lang="en-US">
                          <a:solidFill>
                            <a:schemeClr val="dk1"/>
                          </a:solidFill>
                          <a:latin typeface="Calibri"/>
                          <a:ea typeface="Calibri"/>
                          <a:cs typeface="Calibri"/>
                          <a:sym typeface="Calibri"/>
                        </a:rPr>
                        <a:t>Madhavan N</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Conclusion &amp; Validation Lead</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chemeClr val="accent5"/>
                        </a:buClr>
                        <a:buSzPts val="1400"/>
                        <a:buFont typeface="Calibri"/>
                        <a:buNone/>
                      </a:pPr>
                      <a:r>
                        <a:rPr lang="en-US">
                          <a:solidFill>
                            <a:schemeClr val="accent5"/>
                          </a:solidFill>
                          <a:latin typeface="Calibri"/>
                          <a:ea typeface="Calibri"/>
                          <a:cs typeface="Calibri"/>
                          <a:sym typeface="Calibri"/>
                        </a:rPr>
                        <a:t>Present resource requirements, expected improvements, success metrics and future scope.</a:t>
                      </a:r>
                      <a:endParaRPr sz="1400" u="none" cap="none" strike="noStrike">
                        <a:latin typeface="Calibri"/>
                        <a:ea typeface="Calibri"/>
                        <a:cs typeface="Calibri"/>
                        <a:sym typeface="Calibri"/>
                      </a:endParaRPr>
                    </a:p>
                  </a:txBody>
                  <a:tcPr marT="45725" marB="45725" marR="182875" marL="182875" anchor="ctr">
                    <a:lnL cap="flat" cmpd="sng" w="9525">
                      <a:solidFill>
                        <a:srgbClr val="D3E6DD"/>
                      </a:solidFill>
                      <a:prstDash val="solid"/>
                      <a:round/>
                      <a:headEnd len="sm" w="sm" type="none"/>
                      <a:tailEnd len="sm" w="sm" type="none"/>
                    </a:lnL>
                    <a:lnR cap="flat" cmpd="sng" w="9525">
                      <a:solidFill>
                        <a:srgbClr val="D3E6DD"/>
                      </a:solidFill>
                      <a:prstDash val="solid"/>
                      <a:round/>
                      <a:headEnd len="sm" w="sm" type="none"/>
                      <a:tailEnd len="sm" w="sm" type="none"/>
                    </a:lnR>
                    <a:lnT cap="flat" cmpd="sng" w="9525">
                      <a:solidFill>
                        <a:srgbClr val="D3E6DD"/>
                      </a:solidFill>
                      <a:prstDash val="solid"/>
                      <a:round/>
                      <a:headEnd len="sm" w="sm" type="none"/>
                      <a:tailEnd len="sm" w="sm" type="none"/>
                    </a:lnT>
                    <a:lnB cap="flat" cmpd="sng" w="9525">
                      <a:solidFill>
                        <a:srgbClr val="D3E6DD"/>
                      </a:solidFill>
                      <a:prstDash val="solid"/>
                      <a:round/>
                      <a:headEnd len="sm" w="sm" type="none"/>
                      <a:tailEnd len="sm" w="sm" type="none"/>
                    </a:lnB>
                    <a:solidFill>
                      <a:schemeClr val="lt1"/>
                    </a:solidFill>
                  </a:tcPr>
                </a:tc>
              </a:tr>
            </a:tbl>
          </a:graphicData>
        </a:graphic>
      </p:graphicFrame>
      <p:sp>
        <p:nvSpPr>
          <p:cNvPr id="153" name="Google Shape;153;p9"/>
          <p:cNvSpPr txBox="1"/>
          <p:nvPr>
            <p:ph idx="4294967295" type="sldNum"/>
          </p:nvPr>
        </p:nvSpPr>
        <p:spPr>
          <a:xfrm>
            <a:off x="11259007" y="6409944"/>
            <a:ext cx="457200" cy="3959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fld id="{00000000-1234-1234-1234-123412341234}" type="slidenum">
              <a:rPr b="1" lang="en-US" sz="1100">
                <a:solidFill>
                  <a:schemeClr val="dk2"/>
                </a:solidFill>
                <a:latin typeface="Calibri"/>
                <a:ea typeface="Calibri"/>
                <a:cs typeface="Calibri"/>
                <a:sym typeface="Calibri"/>
              </a:rPr>
              <a:t>‹#›</a:t>
            </a:fld>
            <a:endParaRPr sz="1100">
              <a:solidFill>
                <a:schemeClr val="dk2"/>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2026-10-07T15:27:40Z</dcterms:created>
  <dc:creator>Genesis Ideathon</dc:creator>
</cp:coreProperties>
</file>